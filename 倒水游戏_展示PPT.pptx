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.xml"/><Relationship Id="rId7" Type="http://schemas.openxmlformats.org/officeDocument/2006/relationships/slideLayout" Target="../slideLayouts/slideLayout1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B2B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0"/>
            <a:ext cx="914400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000000"/>
                </a:solidFill>
              </a:rPr>
              <a:t>🧪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822960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倒水游戏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2560320"/>
            <a:ext cx="8229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D4A853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Water Sort Puzzle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A7A7A"/>
                </a:solidFill>
              </a:rPr>
              <a:t>2026湖南省大学生数字媒体创意设计大赛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A7A7A"/>
                </a:solidFill>
              </a:rPr>
              <a:t>B3 数字交互设计类 · 微信小游戏 / HTML5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4A853"/>
          </a:solidFill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游戏概述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1828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倒水游戏是一款基于 HTML5 Canvas 的益智解谜游戏。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玩家通过点击试管将彩色水倒入目标管中，目标是将所有相同颜色的水集中到同一根试管。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纯 JavaScript 单文件实现，不依赖任何第三方框架，1400+ 行代码，无需安装即可在浏览器中运行。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3200400"/>
            <a:ext cx="1920240" cy="1371600"/>
          </a:xfrm>
          <a:prstGeom prst="rect">
            <a:avLst/>
          </a:prstGeom>
          <a:solidFill>
            <a:srgbClr val="FFFFFF"/>
          </a:solidFill>
          <a:effectLst>
            <a:outerShdw blurRad="50800" dist="12700" dir="16200000" algn="bl" rotWithShape="0">
              <a:srgbClr val="000000">
                <a:alpha val="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3246120"/>
            <a:ext cx="192024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🖱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19202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点击倒水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4023360"/>
            <a:ext cx="17373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7A7A"/>
                </a:solidFill>
              </a:rPr>
              <a:t>直观的点击选择/倒水操作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606040" y="3200400"/>
            <a:ext cx="1920240" cy="1371600"/>
          </a:xfrm>
          <a:prstGeom prst="rect">
            <a:avLst/>
          </a:prstGeom>
          <a:solidFill>
            <a:srgbClr val="FFFFFF"/>
          </a:solidFill>
          <a:effectLst>
            <a:outerShdw blurRad="50800" dist="12700" dir="16200000" algn="bl" rotWithShape="0">
              <a:srgbClr val="000000">
                <a:alpha val="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606040" y="3246120"/>
            <a:ext cx="192024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↩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606040" y="3703320"/>
            <a:ext cx="19202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撤销系统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697480" y="4023360"/>
            <a:ext cx="17373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7A7A"/>
                </a:solidFill>
              </a:rPr>
              <a:t>完整的操作栈，支持无限撤销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3200400"/>
            <a:ext cx="1920240" cy="1371600"/>
          </a:xfrm>
          <a:prstGeom prst="rect">
            <a:avLst/>
          </a:prstGeom>
          <a:solidFill>
            <a:srgbClr val="FFFFFF"/>
          </a:solidFill>
          <a:effectLst>
            <a:outerShdw blurRad="50800" dist="12700" dir="16200000" algn="bl" rotWithShape="0">
              <a:srgbClr val="000000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3246120"/>
            <a:ext cx="192024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🎨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754880" y="3703320"/>
            <a:ext cx="19202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精致渲染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46320" y="4023360"/>
            <a:ext cx="17373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7A7A"/>
                </a:solidFill>
              </a:rPr>
              <a:t>Canvas 手绘玻璃试管 + 水特效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03720" y="3200400"/>
            <a:ext cx="1920240" cy="1371600"/>
          </a:xfrm>
          <a:prstGeom prst="rect">
            <a:avLst/>
          </a:prstGeom>
          <a:solidFill>
            <a:srgbClr val="FFFFFF"/>
          </a:solidFill>
          <a:effectLst>
            <a:outerShdw blurRad="50800" dist="12700" dir="16200000" algn="bl" rotWithShape="0">
              <a:srgbClr val="000000">
                <a:alpha val="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903720" y="3246120"/>
            <a:ext cx="192024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🎮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903720" y="3703320"/>
            <a:ext cx="19202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多模式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995160" y="4023360"/>
            <a:ext cx="17373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7A7A"/>
                </a:solidFill>
              </a:rPr>
              <a:t>闯关  / 盲盒 / 变容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7A7A"/>
                </a:solidFill>
              </a:rPr>
              <a:t>2026湖南省大学生数字媒体创意设计大赛 · B3数字交互设计类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5BC0BE"/>
          </a:solidFill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核心玩法</a:t>
            </a:r>
            <a:endParaRPr lang="en-US" sz="3200" dirty="0"/>
          </a:p>
        </p:txBody>
      </p:sp>
      <p:sp>
        <p:nvSpPr>
          <p:cNvPr id="4" name="Shape 2"/>
          <p:cNvSpPr/>
          <p:nvPr>
            <p:custDataLst>
              <p:tags r:id="rId1"/>
            </p:custDataLst>
          </p:nvPr>
        </p:nvSpPr>
        <p:spPr>
          <a:xfrm>
            <a:off x="457200" y="1097280"/>
            <a:ext cx="3840480" cy="3474720"/>
          </a:xfrm>
          <a:prstGeom prst="rect">
            <a:avLst/>
          </a:prstGeom>
          <a:solidFill>
            <a:srgbClr val="FFFFFF"/>
          </a:solidFill>
          <a:effectLst>
            <a:outerShdw blurRad="38100" dist="12700" dir="16200000" algn="bl" rotWithShape="0">
              <a:srgbClr val="000000">
                <a:alpha val="5000"/>
              </a:srgbClr>
            </a:outerShdw>
          </a:effectLst>
        </p:spPr>
      </p:sp>
      <p:sp>
        <p:nvSpPr>
          <p:cNvPr id="5" name="Text 3"/>
          <p:cNvSpPr/>
          <p:nvPr>
            <p:custDataLst>
              <p:tags r:id="rId2"/>
            </p:custDataLst>
          </p:nvPr>
        </p:nvSpPr>
        <p:spPr>
          <a:xfrm>
            <a:off x="640080" y="1188720"/>
            <a:ext cx="34747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操作流程</a:t>
            </a:r>
            <a:endParaRPr lang="en-US" sz="1600" dirty="0"/>
          </a:p>
        </p:txBody>
      </p:sp>
      <p:sp>
        <p:nvSpPr>
          <p:cNvPr id="6" name="Text 4"/>
          <p:cNvSpPr/>
          <p:nvPr>
            <p:custDataLst>
              <p:tags r:id="rId3"/>
            </p:custDataLst>
          </p:nvPr>
        </p:nvSpPr>
        <p:spPr>
          <a:xfrm>
            <a:off x="640080" y="1645920"/>
            <a:ext cx="3474720" cy="2743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1. 点击试管 → 选中（出现光晕 + 浮空）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2. 点击另一根试管 → 执行倒水动画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3. 动画：源管飞到目标上方 → 倾斜倒水 → 回正 → 归位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4. 倒水特效：水流、液滴、飞溅、波纹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5. 集齐同色 → 瓶盖自动盖上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6. 全部完成 → 通关！</a:t>
            </a:r>
            <a:endParaRPr lang="en-US" sz="1300" dirty="0"/>
          </a:p>
        </p:txBody>
      </p:sp>
      <p:sp>
        <p:nvSpPr>
          <p:cNvPr id="7" name="Shape 5"/>
          <p:cNvSpPr/>
          <p:nvPr>
            <p:custDataLst>
              <p:tags r:id="rId4"/>
            </p:custDataLst>
          </p:nvPr>
        </p:nvSpPr>
        <p:spPr>
          <a:xfrm>
            <a:off x="4846320" y="1097280"/>
            <a:ext cx="3840480" cy="3474720"/>
          </a:xfrm>
          <a:prstGeom prst="rect">
            <a:avLst/>
          </a:prstGeom>
          <a:solidFill>
            <a:srgbClr val="FFFFFF"/>
          </a:solidFill>
          <a:effectLst>
            <a:outerShdw blurRad="38100" dist="12700" dir="16200000" algn="bl" rotWithShape="0">
              <a:srgbClr val="000000">
                <a:alpha val="5000"/>
              </a:srgbClr>
            </a:outerShdw>
          </a:effectLst>
        </p:spPr>
      </p:sp>
      <p:sp>
        <p:nvSpPr>
          <p:cNvPr id="8" name="Text 6"/>
          <p:cNvSpPr/>
          <p:nvPr>
            <p:custDataLst>
              <p:tags r:id="rId5"/>
            </p:custDataLst>
          </p:nvPr>
        </p:nvSpPr>
        <p:spPr>
          <a:xfrm>
            <a:off x="5029200" y="1188720"/>
            <a:ext cx="34747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游戏规则</a:t>
            </a:r>
            <a:endParaRPr lang="en-US" sz="1600" dirty="0"/>
          </a:p>
        </p:txBody>
      </p:sp>
      <p:sp>
        <p:nvSpPr>
          <p:cNvPr id="9" name="Text 7"/>
          <p:cNvSpPr/>
          <p:nvPr>
            <p:custDataLst>
              <p:tags r:id="rId6"/>
            </p:custDataLst>
          </p:nvPr>
        </p:nvSpPr>
        <p:spPr>
          <a:xfrm>
            <a:off x="5029200" y="1645920"/>
            <a:ext cx="3474720" cy="2743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源管不能为空，目标管必须有空位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目标顶层颜色必须与源管相同（或为空）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每管默认容量 4 层（变容模式 4-7）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全部单色或全空 = 通关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步数计数 + Ctrl+Z 撤销 + R 重来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拖拽自由移动管子位置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7A7A"/>
                </a:solidFill>
              </a:rPr>
              <a:t>2026湖南省大学生数字媒体创意设计大赛 · B3数字交互设计类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4A853"/>
          </a:solidFill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特色功能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4023360" cy="1097280"/>
          </a:xfrm>
          <a:prstGeom prst="rect">
            <a:avLst/>
          </a:prstGeom>
          <a:solidFill>
            <a:srgbClr val="FFFFFF"/>
          </a:solidFill>
          <a:effectLst>
            <a:outerShdw blurRad="38100" dist="12700" dir="16200000" algn="bl" rotWithShape="0">
              <a:srgbClr val="000000">
                <a:alpha val="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188720"/>
            <a:ext cx="36576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🎁  盲盒模式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57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A7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底部水层被彩虹流彩遮挡，上层倒空后逐层揭示，考验记忆力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4023360" cy="1097280"/>
          </a:xfrm>
          <a:prstGeom prst="rect">
            <a:avLst/>
          </a:prstGeom>
          <a:solidFill>
            <a:srgbClr val="FFFFFF"/>
          </a:solidFill>
          <a:effectLst>
            <a:outerShdw blurRad="38100" dist="12700" dir="16200000" algn="bl" rotWithShape="0">
              <a:srgbClr val="000000">
                <a:alpha val="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1188720"/>
            <a:ext cx="36576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🧪  变容模式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937760" y="1554480"/>
            <a:ext cx="3657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A7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每管容量不同(4-7层)，必须将颜色倒入容量匹配的管子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377440"/>
            <a:ext cx="4023360" cy="1097280"/>
          </a:xfrm>
          <a:prstGeom prst="rect">
            <a:avLst/>
          </a:prstGeom>
          <a:solidFill>
            <a:srgbClr val="FFFFFF"/>
          </a:solidFill>
          <a:effectLst>
            <a:outerShdw blurRad="38100" dist="12700" dir="16200000" algn="bl" rotWithShape="0">
              <a:srgbClr val="000000">
                <a:alpha val="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" y="2468880"/>
            <a:ext cx="36576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✋  拖拽系统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2834640"/>
            <a:ext cx="3657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A7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自由拖拽移动试管到任意位置，松手弹开到最近空地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377440"/>
            <a:ext cx="4023360" cy="1097280"/>
          </a:xfrm>
          <a:prstGeom prst="rect">
            <a:avLst/>
          </a:prstGeom>
          <a:solidFill>
            <a:srgbClr val="FFFFFF"/>
          </a:solidFill>
          <a:effectLst>
            <a:outerShdw blurRad="38100" dist="12700" dir="16200000" algn="bl" rotWithShape="0">
              <a:srgbClr val="000000">
                <a:alpha val="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937760" y="2468880"/>
            <a:ext cx="36576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🔧  关卡自制器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937760" y="2834640"/>
            <a:ext cx="3657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A7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可视化编辑 + 盲盒/变容设置 + 可解性检测(DFS)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657600"/>
            <a:ext cx="4023360" cy="1097280"/>
          </a:xfrm>
          <a:prstGeom prst="rect">
            <a:avLst/>
          </a:prstGeom>
          <a:solidFill>
            <a:srgbClr val="FFFFFF"/>
          </a:solidFill>
          <a:effectLst>
            <a:outerShdw blurRad="38100" dist="12700" dir="16200000" algn="bl" rotWithShape="0">
              <a:srgbClr val="000000">
                <a:alpha val="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080" y="3749040"/>
            <a:ext cx="36576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🏛  </a:t>
            </a:r>
            <a:r>
              <a:rPr lang="zh-CN" altLang="en-US" sz="1500" b="1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重新来过</a:t>
            </a:r>
            <a:endParaRPr lang="zh-CN" altLang="en-US" sz="1500" b="1" dirty="0">
              <a:solidFill>
                <a:srgbClr val="2B2B2B"/>
              </a:solidFill>
              <a:latin typeface="Arial" panose="020B0604020202020204" pitchFamily="34" charset="0"/>
              <a:ea typeface="Arial" panose="020B0604020202020204" pitchFamily="34" charset="-122"/>
              <a:cs typeface="Arial" panose="020B0604020202020204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40080" y="4114800"/>
            <a:ext cx="3657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endParaRPr lang="zh-CN" altLang="en-US" sz="1200" dirty="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marL="0" indent="0">
              <a:buNone/>
            </a:pPr>
            <a:r>
              <a:rPr lang="zh-CN" altLang="en-US" sz="120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可以通过</a:t>
            </a:r>
            <a:r>
              <a:rPr lang="en-US" altLang="zh-CN" sz="120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“</a:t>
            </a:r>
            <a:r>
              <a:rPr lang="zh-CN" altLang="en-US" sz="120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重来</a:t>
            </a:r>
            <a:r>
              <a:rPr lang="en-US" altLang="zh-CN" sz="120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”</a:t>
            </a:r>
            <a:r>
              <a:rPr lang="zh-CN" altLang="en-US" sz="120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，一夜回到解放前</a:t>
            </a:r>
            <a:endParaRPr lang="zh-CN" alt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754880" y="3657600"/>
            <a:ext cx="4023360" cy="1097280"/>
          </a:xfrm>
          <a:prstGeom prst="rect">
            <a:avLst/>
          </a:prstGeom>
          <a:solidFill>
            <a:srgbClr val="FFFFFF"/>
          </a:solidFill>
          <a:effectLst>
            <a:outerShdw blurRad="38100" dist="12700" dir="16200000" algn="bl" rotWithShape="0">
              <a:srgbClr val="000000">
                <a:alpha val="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937760" y="3749040"/>
            <a:ext cx="36576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➕  加管子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937760" y="4114800"/>
            <a:ext cx="3657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A7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卡关时随时加空管降低难度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7A7A"/>
                </a:solidFill>
              </a:rPr>
              <a:t>2026湖南省大学生数字媒体创意设计大赛 · B3数字交互设计类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5BC0BE"/>
          </a:solidFill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视觉设计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566928"/>
          </a:xfrm>
          <a:prstGeom prst="rect">
            <a:avLst/>
          </a:prstGeom>
          <a:solidFill>
            <a:srgbClr val="FFFFFF"/>
          </a:solidFill>
          <a:effectLst>
            <a:outerShdw blurRad="25400" dist="12700" dir="16200000" algn="bl" rotWithShape="0">
              <a:srgbClr val="000000">
                <a:alpha val="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51560"/>
            <a:ext cx="228600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简约清新风格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017520" y="1051560"/>
            <a:ext cx="548640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A7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暖白底色(#F7F5F0) + 柔和马卡龙色板(16色)，干净利落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709928"/>
            <a:ext cx="8229600" cy="566928"/>
          </a:xfrm>
          <a:prstGeom prst="rect">
            <a:avLst/>
          </a:prstGeom>
          <a:solidFill>
            <a:srgbClr val="FFFFFF"/>
          </a:solidFill>
          <a:effectLst>
            <a:outerShdw blurRad="25400" dist="12700" dir="16200000" algn="bl" rotWithShape="0">
              <a:srgbClr val="000000">
                <a:alpha val="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709928"/>
            <a:ext cx="228600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玻璃试管渲染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017520" y="1709928"/>
            <a:ext cx="548640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A7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Canvas 手绘直壁圆底试管，玻璃高光 + 内壁反光 + 底座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368296"/>
            <a:ext cx="8229600" cy="566928"/>
          </a:xfrm>
          <a:prstGeom prst="rect">
            <a:avLst/>
          </a:prstGeom>
          <a:solidFill>
            <a:srgbClr val="FFFFFF"/>
          </a:solidFill>
          <a:effectLst>
            <a:outerShdw blurRad="25400" dist="12700" dir="16200000" algn="bl" rotWithShape="0">
              <a:srgbClr val="000000">
                <a:alpha val="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" y="2368296"/>
            <a:ext cx="228600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动态水面特效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017520" y="2368296"/>
            <a:ext cx="548640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A7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正弦波浪水面 + 内部涟漪 + 侧面折射反光，借鉴 Cocos 实现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026664"/>
            <a:ext cx="8229600" cy="566928"/>
          </a:xfrm>
          <a:prstGeom prst="rect">
            <a:avLst/>
          </a:prstGeom>
          <a:solidFill>
            <a:srgbClr val="FFFFFF"/>
          </a:solidFill>
          <a:effectLst>
            <a:outerShdw blurRad="25400" dist="12700" dir="16200000" algn="bl" rotWithShape="0">
              <a:srgbClr val="000000">
                <a:alpha val="4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0080" y="3026664"/>
            <a:ext cx="228600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四阶段倒水动画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017520" y="3026664"/>
            <a:ext cx="548640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A7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移动→倾斜倒水→回正→归位，水流/液滴/飞溅/波纹全程绘制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685032"/>
            <a:ext cx="8229600" cy="566928"/>
          </a:xfrm>
          <a:prstGeom prst="rect">
            <a:avLst/>
          </a:prstGeom>
          <a:solidFill>
            <a:srgbClr val="FFFFFF"/>
          </a:solidFill>
          <a:effectLst>
            <a:outerShdw blurRad="25400" dist="12700" dir="16200000" algn="bl" rotWithShape="0">
              <a:srgbClr val="000000">
                <a:alpha val="4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080" y="3685032"/>
            <a:ext cx="228600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盲盒彩虹流彩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017520" y="3685032"/>
            <a:ext cx="548640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A7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隐藏层用 HSL 全色相循环渐变 + ? 标记，随时间流动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343400"/>
            <a:ext cx="8229600" cy="566928"/>
          </a:xfrm>
          <a:prstGeom prst="rect">
            <a:avLst/>
          </a:prstGeom>
          <a:solidFill>
            <a:srgbClr val="FFFFFF"/>
          </a:solidFill>
          <a:effectLst>
            <a:outerShdw blurRad="25400" dist="12700" dir="16200000" algn="bl" rotWithShape="0">
              <a:srgbClr val="000000">
                <a:alpha val="4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0080" y="4343400"/>
            <a:ext cx="228600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瓶盖 + 浮空选中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017520" y="4343400"/>
            <a:ext cx="548640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A7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完成即盖金色瓶盖，选中试管上浮 7px + 暖色光晕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7A7A"/>
                </a:solidFill>
              </a:rPr>
              <a:t>2026湖南省大学生数字媒体创意设计大赛 · B3数字交互设计类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4A853"/>
          </a:solidFill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技术架构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645920" cy="594360"/>
          </a:xfrm>
          <a:prstGeom prst="rect">
            <a:avLst/>
          </a:prstGeom>
          <a:solidFill>
            <a:srgbClr val="E8D5B0"/>
          </a:solidFill>
        </p:spPr>
      </p:sp>
      <p:sp>
        <p:nvSpPr>
          <p:cNvPr id="5" name="Text 3"/>
          <p:cNvSpPr/>
          <p:nvPr/>
        </p:nvSpPr>
        <p:spPr>
          <a:xfrm>
            <a:off x="457200" y="1097280"/>
            <a:ext cx="164592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渲染层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286000" y="1097280"/>
            <a:ext cx="640080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Canvas 2D · 自绘玻璃管 · 水特效 · 动画系统 · 拖拽交互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1645920" cy="594360"/>
          </a:xfrm>
          <a:prstGeom prst="rect">
            <a:avLst/>
          </a:prstGeom>
          <a:solidFill>
            <a:srgbClr val="C8DCC8"/>
          </a:solidFill>
        </p:spPr>
      </p:sp>
      <p:sp>
        <p:nvSpPr>
          <p:cNvPr id="8" name="Text 6"/>
          <p:cNvSpPr/>
          <p:nvPr/>
        </p:nvSpPr>
        <p:spPr>
          <a:xfrm>
            <a:off x="457200" y="1828800"/>
            <a:ext cx="164592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逻辑层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286000" y="1828800"/>
            <a:ext cx="640080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倒水验证 · 撤销栈 · 通关检测 · 瓶盖判定 · 盲盒揭示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560320"/>
            <a:ext cx="1645920" cy="594360"/>
          </a:xfrm>
          <a:prstGeom prst="rect">
            <a:avLst/>
          </a:prstGeom>
          <a:solidFill>
            <a:srgbClr val="C8D0E8"/>
          </a:solidFill>
        </p:spPr>
      </p:sp>
      <p:sp>
        <p:nvSpPr>
          <p:cNvPr id="11" name="Text 9"/>
          <p:cNvSpPr/>
          <p:nvPr/>
        </p:nvSpPr>
        <p:spPr>
          <a:xfrm>
            <a:off x="457200" y="2560320"/>
            <a:ext cx="164592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数据层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286000" y="2560320"/>
            <a:ext cx="640080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关卡生成(反向构造) · DFS可解性检测 · localStorage存储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1645920" cy="594360"/>
          </a:xfrm>
          <a:prstGeom prst="rect">
            <a:avLst/>
          </a:prstGeom>
          <a:solidFill>
            <a:srgbClr val="E8D0D0"/>
          </a:solidFill>
        </p:spPr>
      </p:sp>
      <p:sp>
        <p:nvSpPr>
          <p:cNvPr id="14" name="Text 12"/>
          <p:cNvSpPr/>
          <p:nvPr/>
        </p:nvSpPr>
        <p:spPr>
          <a:xfrm>
            <a:off x="457200" y="3291840"/>
            <a:ext cx="164592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音效层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286000" y="3291840"/>
            <a:ext cx="640080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Web Audio API 合成倒水声 · 无外部音频依赖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solidFill>
            <a:srgbClr val="FFFFFF"/>
          </a:solidFill>
          <a:effectLst>
            <a:outerShdw blurRad="25400" dist="12700" dir="16200000" algn="bl" rotWithShape="0">
              <a:srgbClr val="000000">
                <a:alpha val="4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080" y="4114800"/>
            <a:ext cx="786384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技术亮点：单文件 HTML · 纯 JavaScript · 零依赖 · 1400+ 行 · 兼容所有现代浏览器 · 支持触摸和鼠标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7A7A"/>
                </a:solidFill>
              </a:rPr>
              <a:t>2026湖南省大学生数字媒体创意设计大赛 · B3数字交互设计类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5BC0BE"/>
          </a:solidFill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创新点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640080" cy="640080"/>
          </a:xfrm>
          <a:prstGeom prst="rect">
            <a:avLst/>
          </a:prstGeom>
          <a:solidFill>
            <a:srgbClr val="D4A853"/>
          </a:solidFill>
        </p:spPr>
      </p:sp>
      <p:sp>
        <p:nvSpPr>
          <p:cNvPr id="5" name="Text 3"/>
          <p:cNvSpPr/>
          <p:nvPr/>
        </p:nvSpPr>
        <p:spPr>
          <a:xfrm>
            <a:off x="457200" y="1051560"/>
            <a:ext cx="6400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80160" y="1051560"/>
            <a:ext cx="7406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反向构造关卡生成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371600"/>
            <a:ext cx="7406640" cy="320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A7A7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从已解状态做随机合法倒水搅乱，天然保证有解，无需事后验证。1空管极限模式同样适用。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640080" cy="640080"/>
          </a:xfrm>
          <a:prstGeom prst="rect">
            <a:avLst/>
          </a:prstGeom>
          <a:solidFill>
            <a:srgbClr val="D4A853"/>
          </a:solidFill>
        </p:spPr>
      </p:sp>
      <p:sp>
        <p:nvSpPr>
          <p:cNvPr id="9" name="Text 7"/>
          <p:cNvSpPr/>
          <p:nvPr/>
        </p:nvSpPr>
        <p:spPr>
          <a:xfrm>
            <a:off x="457200" y="1828800"/>
            <a:ext cx="6400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80160" y="1828800"/>
            <a:ext cx="7406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盲盒记忆挑战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148840"/>
            <a:ext cx="7406640" cy="320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A7A7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底部水层彩虹流彩遮挡，上层倒空前不可见/不可操作，逐层揭示增加记忆难度。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606040"/>
            <a:ext cx="640080" cy="640080"/>
          </a:xfrm>
          <a:prstGeom prst="rect">
            <a:avLst/>
          </a:prstGeom>
          <a:solidFill>
            <a:srgbClr val="D4A853"/>
          </a:solidFill>
        </p:spPr>
      </p:sp>
      <p:sp>
        <p:nvSpPr>
          <p:cNvPr id="13" name="Text 11"/>
          <p:cNvSpPr/>
          <p:nvPr/>
        </p:nvSpPr>
        <p:spPr>
          <a:xfrm>
            <a:off x="457200" y="2606040"/>
            <a:ext cx="6400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03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80160" y="2606040"/>
            <a:ext cx="7406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变容模式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2926080"/>
            <a:ext cx="7406640" cy="320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A7A7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打破固定4层容量，每管2-8层可变，颜色总数=目标容量，装错即卡关，深度策略性。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383280"/>
            <a:ext cx="640080" cy="640080"/>
          </a:xfrm>
          <a:prstGeom prst="rect">
            <a:avLst/>
          </a:prstGeom>
          <a:solidFill>
            <a:srgbClr val="D4A853"/>
          </a:solidFill>
        </p:spPr>
      </p:sp>
      <p:sp>
        <p:nvSpPr>
          <p:cNvPr id="17" name="Text 15"/>
          <p:cNvSpPr/>
          <p:nvPr/>
        </p:nvSpPr>
        <p:spPr>
          <a:xfrm>
            <a:off x="457200" y="3383280"/>
            <a:ext cx="6400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80160" y="3383280"/>
            <a:ext cx="7406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实时水物理特效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3703320"/>
            <a:ext cx="7406640" cy="320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A7A7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动态波浪水面、内部涟漪、侧面反光，借鉴 Cocos 游戏引擎效果，纯 Canvas 实现。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4160520"/>
            <a:ext cx="640080" cy="640080"/>
          </a:xfrm>
          <a:prstGeom prst="rect">
            <a:avLst/>
          </a:prstGeom>
          <a:solidFill>
            <a:srgbClr val="D4A853"/>
          </a:solidFill>
        </p:spPr>
      </p:sp>
      <p:sp>
        <p:nvSpPr>
          <p:cNvPr id="21" name="Text 19"/>
          <p:cNvSpPr/>
          <p:nvPr/>
        </p:nvSpPr>
        <p:spPr>
          <a:xfrm>
            <a:off x="457200" y="4160520"/>
            <a:ext cx="6400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05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80160" y="4160520"/>
            <a:ext cx="74066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B2B2B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自制关卡系统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4480560"/>
            <a:ext cx="7406640" cy="320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A7A7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可视化编辑器 + 盲盒/变容参数 + DFS可解性校验 + localStorage持久化，玩家即创作者。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7A7A"/>
                </a:solidFill>
              </a:rPr>
              <a:t>2026湖南省大学生数字媒体创意设计大赛 · B3数字交互设计类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B2B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57200"/>
            <a:ext cx="91440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000000"/>
                </a:solidFill>
              </a:rPr>
              <a:t>✨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简约清新的益智挑战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371600" y="2194560"/>
            <a:ext cx="6400800" cy="1828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spcAft>
                <a:spcPts val="1000"/>
              </a:spcAft>
              <a:buNone/>
            </a:pPr>
            <a:r>
              <a:rPr lang="en-US" sz="1600" dirty="0">
                <a:solidFill>
                  <a:srgbClr val="CCCCC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丰富的游戏模式 — 闯关 / 经典 / 盲盒 / 变容 / 自制</a:t>
            </a:r>
            <a:endParaRPr lang="en-US" sz="1600" dirty="0"/>
          </a:p>
          <a:p>
            <a:pPr marL="0" indent="0" algn="ctr">
              <a:spcAft>
                <a:spcPts val="1000"/>
              </a:spcAft>
              <a:buNone/>
            </a:pPr>
            <a:r>
              <a:rPr lang="en-US" sz="1600" dirty="0">
                <a:solidFill>
                  <a:srgbClr val="CCCCC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精致的视觉效果 — 波浪水面 / 动态倒水 / 彩虹盲盒</a:t>
            </a:r>
            <a:endParaRPr lang="en-US" sz="1600" dirty="0"/>
          </a:p>
          <a:p>
            <a:pPr marL="0" indent="0" algn="ctr">
              <a:spcAft>
                <a:spcPts val="1000"/>
              </a:spcAft>
              <a:buNone/>
            </a:pPr>
            <a:r>
              <a:rPr lang="en-US" sz="1600" dirty="0">
                <a:solidFill>
                  <a:srgbClr val="CCCCC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完善的自制系统 — 可视化编辑 / 可解性检测 / 云端存储</a:t>
            </a:r>
            <a:endParaRPr lang="en-US" sz="1600" dirty="0"/>
          </a:p>
          <a:p>
            <a:pPr marL="0" indent="0" algn="ctr">
              <a:spcAft>
                <a:spcPts val="1000"/>
              </a:spcAft>
              <a:buNone/>
            </a:pPr>
            <a:r>
              <a:rPr lang="en-US" sz="1600" dirty="0">
                <a:solidFill>
                  <a:srgbClr val="CCCCCC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零依赖纯前端 — 浏览器即开即玩 / 14KB 压缩后体积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00400" y="4114800"/>
            <a:ext cx="2743200" cy="548640"/>
          </a:xfrm>
          <a:prstGeom prst="rect">
            <a:avLst/>
          </a:prstGeom>
          <a:solidFill>
            <a:srgbClr val="3A3A3A"/>
          </a:solidFill>
        </p:spPr>
      </p:sp>
      <p:sp>
        <p:nvSpPr>
          <p:cNvPr id="6" name="Text 4"/>
          <p:cNvSpPr/>
          <p:nvPr/>
        </p:nvSpPr>
        <p:spPr>
          <a:xfrm>
            <a:off x="3200400" y="4114800"/>
            <a:ext cx="27432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4A853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扫码立即体验 →</a:t>
            </a:r>
            <a:endParaRPr lang="en-US" sz="1400" dirty="0"/>
          </a:p>
        </p:txBody>
      </p:sp>
      <p:pic>
        <p:nvPicPr>
          <p:cNvPr id="7" name="图片 6" descr="qrcod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0685" y="3888740"/>
            <a:ext cx="1144905" cy="1144905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73.6,&quot;left&quot;:36,&quot;top&quot;:86.4,&quot;width&quot;:648}"/>
</p:tagLst>
</file>

<file path=ppt/tags/tag2.xml><?xml version="1.0" encoding="utf-8"?>
<p:tagLst xmlns:p="http://schemas.openxmlformats.org/presentationml/2006/main">
  <p:tag name="KSO_WM_DIAGRAM_VIRTUALLY_FRAME" val="{&quot;height&quot;:273.6,&quot;left&quot;:36,&quot;top&quot;:86.4,&quot;width&quot;:648}"/>
</p:tagLst>
</file>

<file path=ppt/tags/tag3.xml><?xml version="1.0" encoding="utf-8"?>
<p:tagLst xmlns:p="http://schemas.openxmlformats.org/presentationml/2006/main">
  <p:tag name="KSO_WM_DIAGRAM_VIRTUALLY_FRAME" val="{&quot;height&quot;:273.6,&quot;left&quot;:36,&quot;top&quot;:86.4,&quot;width&quot;:648}"/>
</p:tagLst>
</file>

<file path=ppt/tags/tag4.xml><?xml version="1.0" encoding="utf-8"?>
<p:tagLst xmlns:p="http://schemas.openxmlformats.org/presentationml/2006/main">
  <p:tag name="KSO_WM_DIAGRAM_VIRTUALLY_FRAME" val="{&quot;height&quot;:273.6,&quot;left&quot;:36,&quot;top&quot;:86.4,&quot;width&quot;:648}"/>
</p:tagLst>
</file>

<file path=ppt/tags/tag5.xml><?xml version="1.0" encoding="utf-8"?>
<p:tagLst xmlns:p="http://schemas.openxmlformats.org/presentationml/2006/main">
  <p:tag name="KSO_WM_DIAGRAM_VIRTUALLY_FRAME" val="{&quot;height&quot;:273.6,&quot;left&quot;:36,&quot;top&quot;:86.4,&quot;width&quot;:648}"/>
</p:tagLst>
</file>

<file path=ppt/tags/tag6.xml><?xml version="1.0" encoding="utf-8"?>
<p:tagLst xmlns:p="http://schemas.openxmlformats.org/presentationml/2006/main">
  <p:tag name="KSO_WM_DIAGRAM_VIRTUALLY_FRAME" val="{&quot;height&quot;:273.6,&quot;left&quot;:36,&quot;top&quot;:86.4,&quot;width&quot;:648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1724</Words>
  <Application>WPS 演示</Application>
  <PresentationFormat>On-screen Show (16:9)</PresentationFormat>
  <Paragraphs>190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9" baseType="lpstr">
      <vt:lpstr>Arial</vt:lpstr>
      <vt:lpstr>宋体</vt:lpstr>
      <vt:lpstr>Wingdings</vt:lpstr>
      <vt:lpstr>Arial</vt:lpstr>
      <vt:lpstr>Arial</vt:lpstr>
      <vt:lpstr>Calibri</vt:lpstr>
      <vt:lpstr>微软雅黑</vt:lpstr>
      <vt:lpstr>Arial Unicode MS</vt:lpstr>
      <vt:lpstr>等线</vt:lpstr>
      <vt:lpstr>Arial Black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倒水游戏 · Water Sort Puzzle</dc:title>
  <dc:creator>倒水游戏团队</dc:creator>
  <dc:subject>PptxGenJS Presentation</dc:subject>
  <cp:lastModifiedBy>猴子吉祥</cp:lastModifiedBy>
  <cp:revision>3</cp:revision>
  <dcterms:created xsi:type="dcterms:W3CDTF">2026-06-21T08:38:00Z</dcterms:created>
  <dcterms:modified xsi:type="dcterms:W3CDTF">2026-06-23T09:33:58Z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7CAEF047CDC64C81855238C9A99200FC_12</vt:lpwstr>
  </property>
  <property fmtid="{D5CDD505-2E9C-101B-9397-08002B2CF9AE}" pid="3" name="KSOProductBuildVer">
    <vt:lpwstr>2052-12.1.0.26895</vt:lpwstr>
  </property>
</Properties>
</file>